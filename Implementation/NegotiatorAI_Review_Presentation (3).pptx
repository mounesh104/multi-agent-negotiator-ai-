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387" r:id="rId27"/>
    <p:sldId id="386" r:id="rId26"/>
    <p:sldId id="385" r:id="rId25"/>
    <p:sldId id="384" r:id="rId24"/>
    <p:sldId id="383" r:id="rId23"/>
    <p:sldId id="382" r:id="rId22"/>
    <p:sldId id="381" r:id="rId21"/>
    <p:sldId id="380" r:id="rId20"/>
    <p:sldId id="379" r:id="rId19"/>
    <p:sldId id="378" r:id="rId18"/>
    <p:sldId id="377" r:id="rId17"/>
    <p:sldId id="376" r:id="rId16"/>
    <p:sldId id="3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0" Type="http://schemas.openxmlformats.org/officeDocument/2006/relationships/slide" Target="slides/slide15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4.xml"/><Relationship Id="rId17" Type="http://schemas.openxmlformats.org/officeDocument/2006/relationships/slide" Target="slides/slide13.xml"/><Relationship Id="rId18" Type="http://schemas.openxmlformats.org/officeDocument/2006/relationships/slide" Target="slides/slide12.xml"/><Relationship Id="rId19" Type="http://schemas.openxmlformats.org/officeDocument/2006/relationships/slide" Target="slides/slide11.xml"/><Relationship Id="rId20" Type="http://schemas.openxmlformats.org/officeDocument/2006/relationships/slide" Target="slides/slide10.xml"/><Relationship Id="rId21" Type="http://schemas.openxmlformats.org/officeDocument/2006/relationships/slide" Target="slides/slide9.xml"/><Relationship Id="rId22" Type="http://schemas.openxmlformats.org/officeDocument/2006/relationships/slide" Target="slides/slide8.xml"/><Relationship Id="rId23" Type="http://schemas.openxmlformats.org/officeDocument/2006/relationships/slide" Target="slides/slide7.xml"/><Relationship Id="rId24" Type="http://schemas.openxmlformats.org/officeDocument/2006/relationships/slide" Target="slides/slide6.xml"/><Relationship Id="rId25" Type="http://schemas.openxmlformats.org/officeDocument/2006/relationships/slide" Target="slides/slide5.xml"/><Relationship Id="rId26" Type="http://schemas.openxmlformats.org/officeDocument/2006/relationships/slide" Target="slides/slide4.xml"/><Relationship Id="rId27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1F1F"/>
                </a:solidFill>
                <a:latin typeface="Times New Roman"/>
              </a:rPr>
              <a:t>Mean score by retrieval mode (1–5 scale)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No-RAG</c:v>
                </c:pt>
              </c:strCache>
            </c:strRef>
          </c:tx>
          <c:spPr>
            <a:solidFill>
              <a:srgbClr val="8C8C8C"/>
            </a:solidFill>
          </c:spPr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Reasoning</c:v>
                </c:pt>
                <c:pt idx="2">
                  <c:v>Consistency</c:v>
                </c:pt>
                <c:pt idx="3">
                  <c:v>Composite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4.9</c:v>
                </c:pt>
                <c:pt idx="2">
                  <c:v>4.4</c:v>
                </c:pt>
                <c:pt idx="3">
                  <c:v>4.11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Basic RAG</c:v>
                </c:pt>
              </c:strCache>
            </c:strRef>
          </c:tx>
          <c:spPr>
            <a:solidFill>
              <a:srgbClr val="7030A0"/>
            </a:solidFill>
          </c:spPr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Reasoning</c:v>
                </c:pt>
                <c:pt idx="2">
                  <c:v>Consistency</c:v>
                </c:pt>
                <c:pt idx="3">
                  <c:v>Composite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4.55</c:v>
                </c:pt>
                <c:pt idx="1">
                  <c:v>4.883</c:v>
                </c:pt>
                <c:pt idx="2">
                  <c:v>4.3</c:v>
                </c:pt>
                <c:pt idx="3">
                  <c:v>4.608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Agentic RAG</c:v>
                </c:pt>
              </c:strCache>
            </c:strRef>
          </c:tx>
          <c:spPr>
            <a:solidFill>
              <a:srgbClr val="CC0000"/>
            </a:solidFill>
          </c:spPr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Reasoning</c:v>
                </c:pt>
                <c:pt idx="2">
                  <c:v>Consistency</c:v>
                </c:pt>
                <c:pt idx="3">
                  <c:v>Composite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4.717</c:v>
                </c:pt>
                <c:pt idx="1">
                  <c:v>4.383</c:v>
                </c:pt>
                <c:pt idx="2">
                  <c:v>3.4</c:v>
                </c:pt>
                <c:pt idx="3">
                  <c:v>4.35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95959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1.0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Times New Roman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/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/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/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/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/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/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/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/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/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/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/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/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5478A0-E400-6B2F-4B52-61D3A263B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491" y="64077"/>
            <a:ext cx="1000125" cy="1143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NegotiatorAI</a:t>
            </a:r>
          </a:p>
          <a:p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Multi-Agent Agentic RAG Negotiation Co-Pilot for Small Businesses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89" y="5183902"/>
            <a:ext cx="5600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: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M. Soundarya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 Department of AIML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Engineering College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000" y="5183902"/>
            <a:ext cx="4000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Mounesh Kumaran K R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No: 231501104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08891" y="1213137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ARTIFICIAL INTELLIGENCE AND       MACHINE LEARNING</a:t>
            </a:r>
          </a:p>
        </p:txBody>
      </p:sp>
      <p:pic>
        <p:nvPicPr>
          <p:cNvPr id="8" name="Picture 2" descr="Index of /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077"/>
            <a:ext cx="3756758" cy="1213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E10362E-DE98-0F93-C312-F678756311F3}"/>
              </a:ext>
            </a:extLst>
          </p:cNvPr>
          <p:cNvSpPr/>
          <p:nvPr/>
        </p:nvSpPr>
        <p:spPr>
          <a:xfrm>
            <a:off x="11097039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7"/>
          <p:cNvSpPr txBox="1"/>
          <p:nvPr/>
        </p:nvSpPr>
        <p:spPr>
          <a:xfrm>
            <a:off x="813816" y="1828800"/>
            <a:ext cx="576072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01168" indent="-201168">
              <a:spcBef>
                <a:spcPts val="0"/>
              </a:spcBef>
              <a:spcAft>
                <a:spcPts val="1200"/>
              </a:spcAft>
              <a:buClr>
                <a:srgbClr val="CC0000"/>
              </a:buClr>
              <a:buFont typeface="Arial"/>
              <a:buChar char="•"/>
            </a:pPr>
            <a:r>
              <a:rPr sz="1800" b="0" i="0">
                <a:solidFill>
                  <a:srgbClr val="1F1F1F"/>
                </a:solidFill>
                <a:latin typeface="Times New Roman"/>
              </a:rPr>
              <a:t>Small businesses — retailers, restaurants, manufacturers, salons — negotiate supplier deals every purchase cycle: raw materials, packaging, equipment rental, AMC contracts.</a:t>
            </a:r>
          </a:p>
          <a:p>
            <a:pPr algn="l" marL="201168" indent="-201168">
              <a:spcBef>
                <a:spcPts val="0"/>
              </a:spcBef>
              <a:spcAft>
                <a:spcPts val="1200"/>
              </a:spcAft>
              <a:buClr>
                <a:srgbClr val="CC0000"/>
              </a:buClr>
              <a:buFont typeface="Arial"/>
              <a:buChar char="•"/>
            </a:pPr>
            <a:r>
              <a:rPr sz="1800" b="0" i="0">
                <a:solidFill>
                  <a:srgbClr val="1F1F1F"/>
                </a:solidFill>
                <a:latin typeface="Times New Roman"/>
              </a:rPr>
              <a:t>Most owners are not trained negotiators: they accept the first quote and keep no structured memory of past deals to use as leverage.</a:t>
            </a:r>
          </a:p>
          <a:p>
            <a:pPr algn="l" marL="201168" indent="-201168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Font typeface="Arial"/>
              <a:buChar char="•"/>
            </a:pPr>
            <a:r>
              <a:rPr sz="1800" b="0" i="0">
                <a:solidFill>
                  <a:srgbClr val="1F1F1F"/>
                </a:solidFill>
                <a:latin typeface="Times New Roman"/>
              </a:rPr>
              <a:t>It is a recurring, cross-industry pain point, and the negotiation mechanics generalise across industries — which makes it tractable for one agentic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57800"/>
            <a:ext cx="57607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95959"/>
                </a:solidFill>
                <a:latin typeface="Times New Roman"/>
              </a:rPr>
              <a:t>e.g. packaging for an e-commerce seller · raw ingredients for a restaurant · equipment rental for a contractor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828800"/>
            <a:ext cx="4471416" cy="4114800"/>
          </a:xfrm>
          <a:prstGeom prst="roundRect">
            <a:avLst>
              <a:gd name="adj" fmla="val 4000"/>
            </a:avLst>
          </a:prstGeom>
          <a:solidFill>
            <a:srgbClr val="7030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938528"/>
            <a:ext cx="40233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Levers that generalise across industries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606040"/>
            <a:ext cx="4014215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Anchoring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246120"/>
            <a:ext cx="4014215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BATNA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3886200"/>
            <a:ext cx="4014215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Volume-based discounting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4526279"/>
            <a:ext cx="4014215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Competing-quote leverage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5166360"/>
            <a:ext cx="4014215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Loyalty leverage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E10362E-DE98-0F93-C312-F678756311F3}"/>
              </a:ext>
            </a:extLst>
          </p:cNvPr>
          <p:cNvSpPr/>
          <p:nvPr/>
        </p:nvSpPr>
        <p:spPr>
          <a:xfrm>
            <a:off x="11097039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Rounded Rectangle 7"/>
          <p:cNvSpPr/>
          <p:nvPr/>
        </p:nvSpPr>
        <p:spPr>
          <a:xfrm>
            <a:off x="813816" y="1828800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NegotiatorAI </a:t>
            </a:r>
            <a:r>
              <a:rPr sz="1600" b="0" i="0">
                <a:solidFill>
                  <a:srgbClr val="1F1F1F"/>
                </a:solidFill>
                <a:latin typeface="Times New Roman"/>
              </a:rPr>
              <a:t>turns supplier negotiation into an evidence-based workflow: an Analyst researches, a Strategist drafts a numeric counter-offer, the user edits it, then rehearses against an adversarial Vendor.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2880360"/>
            <a:ext cx="338327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" y="3017520"/>
            <a:ext cx="347472" cy="34747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3017520"/>
            <a:ext cx="2724911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Agentic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474720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Adaptive multi-step retrieval with a self-review loop and web-search fallback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2880360"/>
            <a:ext cx="338327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62856" y="3017520"/>
            <a:ext cx="347472" cy="34747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3017520"/>
            <a:ext cx="2724911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Human-in-the-loop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474720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Strategy shown as an editable form; the user’s own edits carry forward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2880360"/>
            <a:ext cx="338327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74736" y="3017520"/>
            <a:ext cx="347472" cy="34747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503" y="3017520"/>
            <a:ext cx="2724911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Adversarial rehearsal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3474720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Vendor agent follows a concession ladder, capped at 15% off the quote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" y="4526280"/>
            <a:ext cx="338327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0976" y="4663440"/>
            <a:ext cx="347472" cy="34747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744" y="4663440"/>
            <a:ext cx="2724911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5-dimension scorecard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5120640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Assertiveness, leverage use, pushback handling, closing — with coaching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4526280"/>
            <a:ext cx="338327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62856" y="4663440"/>
            <a:ext cx="347472" cy="34747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4663440"/>
            <a:ext cx="2724911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Persistent 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5120640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SQLite history feeds past outcomes into new strategies and a savings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7575" y="4526280"/>
            <a:ext cx="338327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6" y="4663440"/>
            <a:ext cx="347472" cy="34747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4503" y="4663440"/>
            <a:ext cx="2724911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Portable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5120640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PDF negotiation cheat sheet; pluggable models via OpenRouter, local embeddings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E10362E-DE98-0F93-C312-F678756311F3}"/>
              </a:ext>
            </a:extLst>
          </p:cNvPr>
          <p:cNvSpPr/>
          <p:nvPr/>
        </p:nvSpPr>
        <p:spPr>
          <a:xfrm>
            <a:off x="11097039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7"/>
          <p:cNvSpPr txBox="1"/>
          <p:nvPr/>
        </p:nvSpPr>
        <p:spPr>
          <a:xfrm>
            <a:off x="813816" y="178308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Existing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7336" y="1783080"/>
            <a:ext cx="5303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C0000"/>
                </a:solidFill>
                <a:latin typeface="Times New Roman"/>
              </a:rPr>
              <a:t>Limitation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" y="2194560"/>
            <a:ext cx="4572000" cy="658368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Times New Roman"/>
              </a:rPr>
              <a:t>Generic negotiation-advice articles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77255" y="2523744"/>
            <a:ext cx="548641" cy="0"/>
          </a:xfrm>
          <a:prstGeom prst="line">
            <a:avLst/>
          </a:prstGeom>
          <a:ln w="22225">
            <a:solidFill>
              <a:srgbClr val="CC0000"/>
            </a:solidFill>
            <a:tailEnd type="triangle"/>
          </a:ln>
        </p:spPr>
      </p:cxnSp>
      <p:sp>
        <p:nvSpPr>
          <p:cNvPr id="12" name="Rounded Rectangle 11"/>
          <p:cNvSpPr/>
          <p:nvPr/>
        </p:nvSpPr>
        <p:spPr>
          <a:xfrm>
            <a:off x="6117336" y="2194560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Not grounded in the specific deal at hand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" y="2999232"/>
            <a:ext cx="4572000" cy="658368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Times New Roman"/>
              </a:rPr>
              <a:t>One-off consultants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77255" y="3328415"/>
            <a:ext cx="548641" cy="0"/>
          </a:xfrm>
          <a:prstGeom prst="line">
            <a:avLst/>
          </a:prstGeom>
          <a:ln w="22225">
            <a:solidFill>
              <a:srgbClr val="CC0000"/>
            </a:solidFill>
            <a:tailEnd type="triangle"/>
          </a:ln>
        </p:spPr>
      </p:cxnSp>
      <p:sp>
        <p:nvSpPr>
          <p:cNvPr id="15" name="Rounded Rectangle 14"/>
          <p:cNvSpPr/>
          <p:nvPr/>
        </p:nvSpPr>
        <p:spPr>
          <a:xfrm>
            <a:off x="6117336" y="2999232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Too expensive for the small-business segment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" y="3803904"/>
            <a:ext cx="4572000" cy="658368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Times New Roman"/>
              </a:rPr>
              <a:t>Manual trial-and-error learning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77255" y="4133088"/>
            <a:ext cx="548641" cy="0"/>
          </a:xfrm>
          <a:prstGeom prst="line">
            <a:avLst/>
          </a:prstGeom>
          <a:ln w="22225">
            <a:solidFill>
              <a:srgbClr val="CC0000"/>
            </a:solidFill>
            <a:tailEnd type="triangle"/>
          </a:ln>
        </p:spPr>
      </p:cxnSp>
      <p:sp>
        <p:nvSpPr>
          <p:cNvPr id="18" name="Rounded Rectangle 17"/>
          <p:cNvSpPr/>
          <p:nvPr/>
        </p:nvSpPr>
        <p:spPr>
          <a:xfrm>
            <a:off x="6117336" y="3803904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No private rehearsal space, no memory of past outcomes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" y="4663440"/>
            <a:ext cx="10607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727448"/>
            <a:ext cx="10332719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Why a single chatbot or one LLM prompt is not enough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120640"/>
            <a:ext cx="3322319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C0000"/>
                </a:solidFill>
                <a:latin typeface="Times New Roman"/>
              </a:rPr>
              <a:t>Role confusion: </a:t>
            </a:r>
            <a:r>
              <a:rPr sz="1500" b="0" i="0">
                <a:solidFill>
                  <a:srgbClr val="1F1F1F"/>
                </a:solidFill>
                <a:latin typeface="Times New Roman"/>
              </a:rPr>
              <a:t>research, advocacy and adversary roles clash in one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6176" y="5120640"/>
            <a:ext cx="3322319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C0000"/>
                </a:solidFill>
                <a:latin typeface="Times New Roman"/>
              </a:rPr>
              <a:t>Fixed retrieval: </a:t>
            </a:r>
            <a:r>
              <a:rPr sz="1500" b="0" i="0">
                <a:solidFill>
                  <a:srgbClr val="1F1F1F"/>
                </a:solidFill>
                <a:latin typeface="Times New Roman"/>
              </a:rPr>
              <a:t>one query cannot fit every deal; retrieval must adapt at run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1376" y="5120640"/>
            <a:ext cx="3322319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C0000"/>
                </a:solidFill>
                <a:latin typeface="Times New Roman"/>
              </a:rPr>
              <a:t>No self-correction: </a:t>
            </a:r>
            <a:r>
              <a:rPr sz="1500" b="0" i="0">
                <a:solidFill>
                  <a:srgbClr val="1F1F1F"/>
                </a:solidFill>
                <a:latin typeface="Times New Roman"/>
              </a:rPr>
              <a:t>real financial stakes demand grounded, checkable output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E10362E-DE98-0F93-C312-F678756311F3}"/>
              </a:ext>
            </a:extLst>
          </p:cNvPr>
          <p:cNvSpPr/>
          <p:nvPr/>
        </p:nvSpPr>
        <p:spPr>
          <a:xfrm>
            <a:off x="11097039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Rounded Rectangle 7"/>
          <p:cNvSpPr/>
          <p:nvPr/>
        </p:nvSpPr>
        <p:spPr>
          <a:xfrm>
            <a:off x="813816" y="182880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Given </a:t>
            </a:r>
            <a:r>
              <a:rPr sz="1600" b="0" i="0">
                <a:solidFill>
                  <a:srgbClr val="1F1F1F"/>
                </a:solidFill>
                <a:latin typeface="Times New Roman"/>
              </a:rPr>
              <a:t>a supplier’s quote (price, quantity, payment terms, delivery) and the owner’s self-reported leverage (repeat customer, competing quotes, volume commitment), produce an evidence-backed, numerically specific counter-offer the owner can review, rehearse and reuse.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3017520"/>
            <a:ext cx="1975103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3108960"/>
            <a:ext cx="347472" cy="34747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520440"/>
            <a:ext cx="1828799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Retrieve evidence-backed tactics and benchmarks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017520"/>
            <a:ext cx="1975103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81528" y="3108960"/>
            <a:ext cx="347472" cy="34747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520440"/>
            <a:ext cx="1828799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Synthesise a numeric counter-offer and opening 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783" y="3017520"/>
            <a:ext cx="1975103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39512" y="3108960"/>
            <a:ext cx="347472" cy="34747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3520440"/>
            <a:ext cx="1828799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Let the user review and edit the proposal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7768" y="3017520"/>
            <a:ext cx="1975103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97496" y="3108960"/>
            <a:ext cx="347472" cy="34747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3520440"/>
            <a:ext cx="1828799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Rehearse against a realistic, resistant AI vendor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45752" y="3017520"/>
            <a:ext cx="1975103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55480" y="3108960"/>
            <a:ext cx="347472" cy="34747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8904" y="3520440"/>
            <a:ext cx="1828799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Score the rehearsal and persist the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" y="4572000"/>
            <a:ext cx="3383279" cy="146304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626864"/>
            <a:ext cx="3163824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Why it matters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Procurement is one of the largest controllable costs; small gains in negotiated terms compound across every purchase cycle.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5696" y="4572000"/>
            <a:ext cx="3383279" cy="146304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4626864"/>
            <a:ext cx="3163824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Target users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Small business owners and procurement staff in retail, e-commerce, F&amp;B, construction, grocery, hospitality and tech startups.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5" y="4572000"/>
            <a:ext cx="3383279" cy="146304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47303" y="4626864"/>
            <a:ext cx="3163824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CC0000"/>
                </a:solidFill>
                <a:latin typeface="Times New Roman"/>
              </a:rPr>
              <a:t>Disclosed scope limit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No independent real-time price verification — advice is only as reliable as the facts the user supplies.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SCOPE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E10362E-DE98-0F93-C312-F678756311F3}"/>
              </a:ext>
            </a:extLst>
          </p:cNvPr>
          <p:cNvSpPr/>
          <p:nvPr/>
        </p:nvSpPr>
        <p:spPr>
          <a:xfrm>
            <a:off x="11097039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Oval 7"/>
          <p:cNvSpPr/>
          <p:nvPr/>
        </p:nvSpPr>
        <p:spPr>
          <a:xfrm>
            <a:off x="813816" y="1892807"/>
            <a:ext cx="384048" cy="38404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456" y="1828800"/>
            <a:ext cx="603504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Three-agent architecture (Analyst, Strategist, Vendor) on LangGraph</a:t>
            </a:r>
          </a:p>
        </p:txBody>
      </p:sp>
      <p:sp>
        <p:nvSpPr>
          <p:cNvPr id="10" name="Oval 9"/>
          <p:cNvSpPr/>
          <p:nvPr/>
        </p:nvSpPr>
        <p:spPr>
          <a:xfrm>
            <a:off x="813816" y="2478024"/>
            <a:ext cx="384048" cy="38404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456" y="2414016"/>
            <a:ext cx="603504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Agentic RAG over a curated 25-document tactics knowledge base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" y="3063240"/>
            <a:ext cx="384048" cy="38404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2999232"/>
            <a:ext cx="603504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Genuine human-in-the-loop checkpoint with an editable strategy</a:t>
            </a:r>
          </a:p>
        </p:txBody>
      </p:sp>
      <p:sp>
        <p:nvSpPr>
          <p:cNvPr id="14" name="Oval 13"/>
          <p:cNvSpPr/>
          <p:nvPr/>
        </p:nvSpPr>
        <p:spPr>
          <a:xfrm>
            <a:off x="813816" y="3648456"/>
            <a:ext cx="384048" cy="38404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3584448"/>
            <a:ext cx="603504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Adversarial rehearsal against a concession-ladder Vendor, then scorecard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" y="4233672"/>
            <a:ext cx="384048" cy="38404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" y="4169664"/>
            <a:ext cx="603504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Persistent cross-session memory (SQLite) for negotiation history</a:t>
            </a:r>
          </a:p>
        </p:txBody>
      </p:sp>
      <p:sp>
        <p:nvSpPr>
          <p:cNvPr id="18" name="Oval 17"/>
          <p:cNvSpPr/>
          <p:nvPr/>
        </p:nvSpPr>
        <p:spPr>
          <a:xfrm>
            <a:off x="813816" y="4818888"/>
            <a:ext cx="384048" cy="38404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456" y="4754880"/>
            <a:ext cx="603504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Evaluate No-RAG vs Basic RAG vs Agentic RAG on 10 test deals</a:t>
            </a:r>
          </a:p>
        </p:txBody>
      </p:sp>
      <p:sp>
        <p:nvSpPr>
          <p:cNvPr id="20" name="Oval 19"/>
          <p:cNvSpPr/>
          <p:nvPr/>
        </p:nvSpPr>
        <p:spPr>
          <a:xfrm>
            <a:off x="813816" y="5404104"/>
            <a:ext cx="384048" cy="38404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2456" y="5340096"/>
            <a:ext cx="603504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Streamlit product: 7 screens and a downloadable PDF brief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1828800"/>
            <a:ext cx="3739896" cy="214884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1883664"/>
            <a:ext cx="3520440" cy="2057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In scope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7030A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Supplier-negotiation prep across industries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7030A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Indian SME benchmarks in rupees</a:t>
            </a:r>
          </a:p>
          <a:p>
            <a:pPr algn="l" marL="201168" indent="-201168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Rehearsal, scoring, PDF brief and 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160520"/>
            <a:ext cx="3739896" cy="178308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0688" y="4215384"/>
            <a:ext cx="352044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C0000"/>
                </a:solidFill>
                <a:latin typeface="Times New Roman"/>
              </a:rPr>
              <a:t>Out of scope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Real-time market price verification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Multi-user login and production deployment</a:t>
            </a:r>
          </a:p>
          <a:p>
            <a:pPr algn="l" marL="201168" indent="-201168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Non-Indian benchmark sets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/ KNOWLEDGE BASE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E10362E-DE98-0F93-C312-F678756311F3}"/>
              </a:ext>
            </a:extLst>
          </p:cNvPr>
          <p:cNvSpPr/>
          <p:nvPr/>
        </p:nvSpPr>
        <p:spPr>
          <a:xfrm>
            <a:off x="11097039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Rounded Rectangle 7"/>
          <p:cNvSpPr/>
          <p:nvPr/>
        </p:nvSpPr>
        <p:spPr>
          <a:xfrm>
            <a:off x="813816" y="182880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74519"/>
            <a:ext cx="11887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7030A0"/>
                </a:solidFill>
                <a:latin typeface="Times New Roman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3976" y="1874519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curated, custom-authored negotiation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" y="2816352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862072"/>
            <a:ext cx="11887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7030A0"/>
                </a:solidFill>
                <a:latin typeface="Times New Roman"/>
              </a:rPr>
              <a:t>~180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3976" y="2862072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retrievable overlapping passages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" y="3803904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849624"/>
            <a:ext cx="11887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7030A0"/>
                </a:solidFill>
                <a:latin typeface="Times New Roman"/>
              </a:rPr>
              <a:t>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3849624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Indian SME market norms and rupee benchmarks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4846320"/>
            <a:ext cx="35661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Ingestion pipeline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Documents → overlapping passages → local embeddings → ChromaDB. Live web search only on low-confidence matches.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663440" y="1828800"/>
          <a:ext cx="6757416" cy="4096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5843016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Doc #</a:t>
                      </a:r>
                    </a:p>
                  </a:txBody>
                  <a:tcPr marL="91440" marR="91440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Topic area</a:t>
                      </a:r>
                    </a:p>
                  </a:txBody>
                  <a:tcPr marL="91440" marR="91440" marT="27432" marB="27432" anchor="ctr">
                    <a:solidFill>
                      <a:srgbClr val="7030A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01–04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Volume discounts and payment-term negotiation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05–06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Delivery/quality penalty clauses and AMC contracts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07–08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Loyalty leverage and competing-quote leverage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09–12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Negotiation psychology: anchoring, BATNA, silence, framing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13–17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Category guidance: rental, F&amp;B, packaging, logistics, office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18–22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Scripts, first-time buyers and pushback handling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23–25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Cognitive biases, preparation checklist, benchmarks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E10362E-DE98-0F93-C312-F678756311F3}"/>
              </a:ext>
            </a:extLst>
          </p:cNvPr>
          <p:cNvSpPr/>
          <p:nvPr/>
        </p:nvSpPr>
        <p:spPr>
          <a:xfrm>
            <a:off x="11097039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3816" y="1810512"/>
          <a:ext cx="10607040" cy="4160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3108960"/>
                <a:gridCol w="5212080"/>
              </a:tblGrid>
              <a:tr h="41605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Layer</a:t>
                      </a:r>
                    </a:p>
                  </a:txBody>
                  <a:tcPr marL="91440" marR="91440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Technology</a:t>
                      </a:r>
                    </a:p>
                  </a:txBody>
                  <a:tcPr marL="91440" marR="91440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Role in the system</a:t>
                      </a:r>
                    </a:p>
                  </a:txBody>
                  <a:tcPr marL="91440" marR="91440" marT="27432" marB="27432" anchor="ctr">
                    <a:solidFill>
                      <a:srgbClr val="7030A0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User interface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Streamlit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7-screen app from onboarding to history dashboard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Agent orchestration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LangGraph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State-machine flow with reflection and re-retrieval loop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LLM layer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LangChain + OpenRouter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One interface to GPT-4o(-mini), Claude, Gemini, Llama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Embeddings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Local sentence-embedding model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Free, runs on ordinary hardware, no subscription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Vector store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ChromaDB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Persistent local store of the 25-document knowledge base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Web search fallback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Tavily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Live search only when knowledge-base confidence is low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Persistent memory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SQLite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Per-business negotiation history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PDF export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fpdf2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Negotiation cheat sheet and scorecard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Evaluation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pandas, matplotlib, numpy, scipy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Aggregation, charts and statistics for the results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ARCHITECTURE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E10362E-DE98-0F93-C312-F678756311F3}"/>
              </a:ext>
            </a:extLst>
          </p:cNvPr>
          <p:cNvSpPr/>
          <p:nvPr/>
        </p:nvSpPr>
        <p:spPr>
          <a:xfrm>
            <a:off x="11097039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Rounded Rectangle 7"/>
          <p:cNvSpPr/>
          <p:nvPr/>
        </p:nvSpPr>
        <p:spPr>
          <a:xfrm>
            <a:off x="813816" y="1828800"/>
            <a:ext cx="3383279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" y="1828800"/>
            <a:ext cx="3383279" cy="731520"/>
          </a:xfrm>
          <a:prstGeom prst="roundRect">
            <a:avLst>
              <a:gd name="adj" fmla="val 6000"/>
            </a:avLst>
          </a:prstGeom>
          <a:solidFill>
            <a:srgbClr val="7030A0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Analyst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Neutral evidence researcher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651760"/>
            <a:ext cx="3200399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Retrieves and summarises tactics from the knowledge base. Never recommends — reports facts, benchmarks and evidence gaps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86200"/>
            <a:ext cx="320039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030A0"/>
                </a:solidFill>
                <a:latin typeface="Times New Roman"/>
              </a:rPr>
              <a:t>Tools: KB search, web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828800"/>
            <a:ext cx="3383279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25696" y="1828800"/>
            <a:ext cx="3383279" cy="731520"/>
          </a:xfrm>
          <a:prstGeom prst="roundRect">
            <a:avLst>
              <a:gd name="adj" fmla="val 6000"/>
            </a:avLst>
          </a:prstGeom>
          <a:solidFill>
            <a:srgbClr val="CC0000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Strategist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The user’s advocate and coach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651760"/>
            <a:ext cx="3200399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Turns evidence into a numeric counter-offer, alternative asks, leverage points and an opening script; self-reviews for grounding.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886200"/>
            <a:ext cx="320039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CC0000"/>
                </a:solidFill>
                <a:latin typeface="Times New Roman"/>
              </a:rPr>
              <a:t>Tools: reasoning + self-review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1828800"/>
            <a:ext cx="3383279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37575" y="1828800"/>
            <a:ext cx="3383279" cy="731520"/>
          </a:xfrm>
          <a:prstGeom prst="roundRect">
            <a:avLst>
              <a:gd name="adj" fmla="val 6000"/>
            </a:avLst>
          </a:prstGeom>
          <a:solidFill>
            <a:srgbClr val="404040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Vendor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Adversarial supplier representative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5" y="2651760"/>
            <a:ext cx="3200399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Defends the original quote and concedes only under sustained pressure, with a hard ceiling of 15% off the quote.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9015" y="3886200"/>
            <a:ext cx="320039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04040"/>
                </a:solidFill>
                <a:latin typeface="Times New Roman"/>
              </a:rPr>
              <a:t>Tools: reasoning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" y="4480560"/>
            <a:ext cx="5212080" cy="155448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4526280"/>
            <a:ext cx="4992624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Tools</a:t>
            </a:r>
          </a:p>
          <a:p>
            <a:pPr algn="l" marL="201168" indent="-201168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Knowledge-base search (Analyst only)</a:t>
            </a:r>
          </a:p>
          <a:p>
            <a:pPr algn="l" marL="201168" indent="-201168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Live web search — low-confidence fallback</a:t>
            </a:r>
          </a:p>
          <a:p>
            <a:pPr algn="l" marL="201168" indent="-201168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History read/write and PDF export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4480560"/>
            <a:ext cx="5212080" cy="155448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3" y="4526280"/>
            <a:ext cx="4992624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C0000"/>
                </a:solidFill>
                <a:latin typeface="Times New Roman"/>
              </a:rPr>
              <a:t>Memory</a:t>
            </a:r>
          </a:p>
          <a:p>
            <a:pPr algn="l" marL="201168" indent="-201168">
              <a:spcBef>
                <a:spcPts val="0"/>
              </a:spcBef>
              <a:spcAft>
                <a:spcPts val="200"/>
              </a:spcAft>
              <a:buClr>
                <a:srgbClr val="CC0000"/>
              </a:buClr>
              <a:buFont typeface="Arial"/>
              <a:buChar char="•"/>
            </a:pPr>
            <a:r>
              <a:rPr sz="1500" b="1" i="0">
                <a:solidFill>
                  <a:srgbClr val="1F1F1F"/>
                </a:solidFill>
                <a:latin typeface="Times New Roman"/>
              </a:rPr>
              <a:t>Short-term: </a:t>
            </a:r>
            <a:r>
              <a:rPr sz="1500" b="0" i="0">
                <a:solidFill>
                  <a:srgbClr val="1F1F1F"/>
                </a:solidFill>
                <a:latin typeface="Times New Roman"/>
              </a:rPr>
              <a:t>session state — deal, searches, evidence, draft, edits, transcript</a:t>
            </a:r>
          </a:p>
          <a:p>
            <a:pPr algn="l" marL="201168" indent="-201168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Font typeface="Arial"/>
              <a:buChar char="•"/>
            </a:pPr>
            <a:r>
              <a:rPr sz="1500" b="1" i="0">
                <a:solidFill>
                  <a:srgbClr val="1F1F1F"/>
                </a:solidFill>
                <a:latin typeface="Times New Roman"/>
              </a:rPr>
              <a:t>Long-term: </a:t>
            </a:r>
            <a:r>
              <a:rPr sz="1500" b="0" i="0">
                <a:solidFill>
                  <a:srgbClr val="1F1F1F"/>
                </a:solidFill>
                <a:latin typeface="Times New Roman"/>
              </a:rPr>
              <a:t>SQLite; the 3 latest past deals feed the Strategist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AND ORCHESTRATION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E10362E-DE98-0F93-C312-F678756311F3}"/>
              </a:ext>
            </a:extLst>
          </p:cNvPr>
          <p:cNvSpPr/>
          <p:nvPr/>
        </p:nvSpPr>
        <p:spPr>
          <a:xfrm>
            <a:off x="11097039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1" name="Group 101"/>
          <p:cNvSpPr/>
          <p:nvPr/>
        </p:nvSpPr>
        <p:spPr>
          <a:xfrm>
            <a:off x="640080" y="1783080"/>
            <a:ext cx="10881360" cy="1965960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 w="12700">
            <a:solidFill>
              <a:srgbClr val="A9BEE0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endParaRPr lang="en-IN"/>
          </a:p>
        </p:txBody>
      </p:sp>
      <p:sp>
        <p:nvSpPr>
          <p:cNvPr id="102" name="TextBox 102"/>
          <p:cNvSpPr txBox="1"/>
          <p:nvPr/>
        </p:nvSpPr>
        <p:spPr>
          <a:xfrm>
            <a:off x="822960" y="181965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IN" sz="1200" b="1" i="0" dirty="0">
                <a:solidFill>
                  <a:srgbClr val="3A62A0"/>
                </a:solidFill>
                <a:latin typeface="Arial"/>
                <a:cs typeface="Arial"/>
              </a:rPr>
              <a:t>STAGE 1 — Research and strategy (LangGraph, automated)</a:t>
            </a:r>
          </a:p>
        </p:txBody>
      </p:sp>
      <p:sp>
        <p:nvSpPr>
          <p:cNvPr id="103" name="Box 103"/>
          <p:cNvSpPr/>
          <p:nvPr/>
        </p:nvSpPr>
        <p:spPr>
          <a:xfrm>
            <a:off x="868680" y="2194560"/>
            <a:ext cx="1737360" cy="777240"/>
          </a:xfrm>
          <a:prstGeom prst="roundRect">
            <a:avLst>
              <a:gd name="adj" fmla="val 14000"/>
            </a:avLst>
          </a:prstGeom>
          <a:solidFill>
            <a:srgbClr val="C9D8EE"/>
          </a:solidFill>
          <a:ln w="12700">
            <a:solidFill>
              <a:srgbClr val="5C7DB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IN" sz="1200" b="1" i="0" dirty="0">
                <a:solidFill>
                  <a:srgbClr val="1F3560"/>
                </a:solidFill>
                <a:latin typeface="Arial"/>
                <a:cs typeface="Arial"/>
              </a:rPr>
              <a:t>User input</a:t>
            </a:r>
          </a:p>
          <a:p>
            <a:pPr algn="ctr">
              <a:spcBef>
                <a:spcPts val="0"/>
              </a:spcBef>
              <a:buNone/>
            </a:pPr>
            <a:r>
              <a:rPr lang="en-IN" sz="1000" b="0" i="0" dirty="0">
                <a:solidFill>
                  <a:srgbClr val="1F3560"/>
                </a:solidFill>
                <a:latin typeface="Arial"/>
                <a:cs typeface="Arial"/>
              </a:rPr>
              <a:t>deal facts and leverage</a:t>
            </a:r>
          </a:p>
        </p:txBody>
      </p:sp>
      <p:sp>
        <p:nvSpPr>
          <p:cNvPr id="104" name="Box 104"/>
          <p:cNvSpPr/>
          <p:nvPr/>
        </p:nvSpPr>
        <p:spPr>
          <a:xfrm>
            <a:off x="3063240" y="2194560"/>
            <a:ext cx="1737360" cy="777240"/>
          </a:xfrm>
          <a:prstGeom prst="roundRect">
            <a:avLst>
              <a:gd name="adj" fmla="val 14000"/>
            </a:avLst>
          </a:prstGeom>
          <a:solidFill>
            <a:srgbClr val="C9D8EE"/>
          </a:solidFill>
          <a:ln w="12700">
            <a:solidFill>
              <a:srgbClr val="5C7DB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IN" sz="1200" b="1" i="0" dirty="0">
                <a:solidFill>
                  <a:srgbClr val="1F3560"/>
                </a:solidFill>
                <a:latin typeface="Arial"/>
                <a:cs typeface="Arial"/>
              </a:rPr>
              <a:t>load_history()</a:t>
            </a:r>
          </a:p>
          <a:p>
            <a:pPr algn="ctr">
              <a:spcBef>
                <a:spcPts val="0"/>
              </a:spcBef>
              <a:buNone/>
            </a:pPr>
            <a:r>
              <a:rPr lang="en-IN" sz="1000" b="0" i="0" dirty="0">
                <a:solidFill>
                  <a:srgbClr val="1F3560"/>
                </a:solidFill>
                <a:latin typeface="Arial"/>
                <a:cs typeface="Arial"/>
              </a:rPr>
              <a:t>SQLite past deals</a:t>
            </a:r>
          </a:p>
        </p:txBody>
      </p:sp>
      <p:sp>
        <p:nvSpPr>
          <p:cNvPr id="105" name="Box 105"/>
          <p:cNvSpPr/>
          <p:nvPr/>
        </p:nvSpPr>
        <p:spPr>
          <a:xfrm>
            <a:off x="5257800" y="2194560"/>
            <a:ext cx="1737360" cy="777240"/>
          </a:xfrm>
          <a:prstGeom prst="roundRect">
            <a:avLst>
              <a:gd name="adj" fmla="val 14000"/>
            </a:avLst>
          </a:prstGeom>
          <a:solidFill>
            <a:srgbClr val="C9D8EE"/>
          </a:solidFill>
          <a:ln w="12700">
            <a:solidFill>
              <a:srgbClr val="5C7DB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IN" sz="1200" b="1" i="0" dirty="0">
                <a:solidFill>
                  <a:srgbClr val="1F3560"/>
                </a:solidFill>
                <a:latin typeface="Arial"/>
                <a:cs typeface="Arial"/>
              </a:rPr>
              <a:t>Analyst</a:t>
            </a:r>
          </a:p>
          <a:p>
            <a:pPr algn="ctr">
              <a:spcBef>
                <a:spcPts val="0"/>
              </a:spcBef>
              <a:buNone/>
            </a:pPr>
            <a:r>
              <a:rPr lang="en-IN" sz="1000" b="0" i="0" dirty="0">
                <a:solidFill>
                  <a:srgbClr val="1F3560"/>
                </a:solidFill>
                <a:latin typeface="Arial"/>
                <a:cs typeface="Arial"/>
              </a:rPr>
              <a:t>agentic_retrieve()</a:t>
            </a:r>
          </a:p>
        </p:txBody>
      </p:sp>
      <p:sp>
        <p:nvSpPr>
          <p:cNvPr id="106" name="Box 106"/>
          <p:cNvSpPr/>
          <p:nvPr/>
        </p:nvSpPr>
        <p:spPr>
          <a:xfrm>
            <a:off x="7452360" y="2194560"/>
            <a:ext cx="1737360" cy="777240"/>
          </a:xfrm>
          <a:prstGeom prst="roundRect">
            <a:avLst>
              <a:gd name="adj" fmla="val 14000"/>
            </a:avLst>
          </a:prstGeom>
          <a:solidFill>
            <a:srgbClr val="C9D8EE"/>
          </a:solidFill>
          <a:ln w="12700">
            <a:solidFill>
              <a:srgbClr val="5C7DB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IN" sz="1200" b="1" i="0" dirty="0">
                <a:solidFill>
                  <a:srgbClr val="1F3560"/>
                </a:solidFill>
                <a:latin typeface="Arial"/>
                <a:cs typeface="Arial"/>
              </a:rPr>
              <a:t>Strategist</a:t>
            </a:r>
          </a:p>
          <a:p>
            <a:pPr algn="ctr">
              <a:spcBef>
                <a:spcPts val="0"/>
              </a:spcBef>
              <a:buNone/>
            </a:pPr>
            <a:r>
              <a:rPr lang="en-IN" sz="1000" b="0" i="0" dirty="0">
                <a:solidFill>
                  <a:srgbClr val="1F3560"/>
                </a:solidFill>
                <a:latin typeface="Arial"/>
                <a:cs typeface="Arial"/>
              </a:rPr>
              <a:t>draft()</a:t>
            </a:r>
          </a:p>
        </p:txBody>
      </p:sp>
      <p:sp>
        <p:nvSpPr>
          <p:cNvPr id="107" name="Box 107"/>
          <p:cNvSpPr/>
          <p:nvPr/>
        </p:nvSpPr>
        <p:spPr>
          <a:xfrm>
            <a:off x="9646920" y="2194560"/>
            <a:ext cx="1737360" cy="777240"/>
          </a:xfrm>
          <a:prstGeom prst="roundRect">
            <a:avLst>
              <a:gd name="adj" fmla="val 14000"/>
            </a:avLst>
          </a:prstGeom>
          <a:solidFill>
            <a:srgbClr val="C9D8EE"/>
          </a:solidFill>
          <a:ln w="12700">
            <a:solidFill>
              <a:srgbClr val="5C7DB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IN" sz="1200" b="1" i="0" dirty="0">
                <a:solidFill>
                  <a:srgbClr val="1F3560"/>
                </a:solidFill>
                <a:latin typeface="Arial"/>
                <a:cs typeface="Arial"/>
              </a:rPr>
              <a:t>reflection_check</a:t>
            </a:r>
          </a:p>
          <a:p>
            <a:pPr algn="ctr">
              <a:spcBef>
                <a:spcPts val="0"/>
              </a:spcBef>
              <a:buNone/>
            </a:pPr>
            <a:r>
              <a:rPr lang="en-IN" sz="1000" b="0" i="0" dirty="0">
                <a:solidFill>
                  <a:srgbClr val="1F3560"/>
                </a:solidFill>
                <a:latin typeface="Arial"/>
                <a:cs typeface="Arial"/>
              </a:rPr>
              <a:t>pass / fail check</a:t>
            </a:r>
          </a:p>
        </p:txBody>
      </p:sp>
      <p:cxnSp>
        <p:nvCxnSpPr>
          <p:cNvPr id="108" name="Connector 108"/>
          <p:cNvCxnSpPr/>
          <p:nvPr/>
        </p:nvCxnSpPr>
        <p:spPr>
          <a:xfrm>
            <a:off x="2606040" y="2583180"/>
            <a:ext cx="45720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</p:cxnSp>
      <p:cxnSp>
        <p:nvCxnSpPr>
          <p:cNvPr id="109" name="Connector 109"/>
          <p:cNvCxnSpPr/>
          <p:nvPr/>
        </p:nvCxnSpPr>
        <p:spPr>
          <a:xfrm>
            <a:off x="4800600" y="2583180"/>
            <a:ext cx="45720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</p:cxnSp>
      <p:cxnSp>
        <p:nvCxnSpPr>
          <p:cNvPr id="110" name="Connector 110"/>
          <p:cNvCxnSpPr/>
          <p:nvPr/>
        </p:nvCxnSpPr>
        <p:spPr>
          <a:xfrm>
            <a:off x="6995160" y="2583180"/>
            <a:ext cx="45720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</p:cxnSp>
      <p:cxnSp>
        <p:nvCxnSpPr>
          <p:cNvPr id="111" name="Connector 111"/>
          <p:cNvCxnSpPr/>
          <p:nvPr/>
        </p:nvCxnSpPr>
        <p:spPr>
          <a:xfrm>
            <a:off x="9189720" y="2583180"/>
            <a:ext cx="45720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</p:cxnSp>
      <p:sp>
        <p:nvSpPr>
          <p:cNvPr id="112" name="Box 112"/>
          <p:cNvSpPr/>
          <p:nvPr/>
        </p:nvSpPr>
        <p:spPr>
          <a:xfrm>
            <a:off x="6400800" y="3200400"/>
            <a:ext cx="1737360" cy="411480"/>
          </a:xfrm>
          <a:prstGeom prst="roundRect">
            <a:avLst>
              <a:gd name="adj" fmla="val 14000"/>
            </a:avLst>
          </a:prstGeom>
          <a:solidFill>
            <a:srgbClr val="C9D8EE"/>
          </a:solidFill>
          <a:ln w="12700">
            <a:solidFill>
              <a:srgbClr val="5C7DB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IN" sz="1200" b="1" i="0" dirty="0">
                <a:solidFill>
                  <a:srgbClr val="1F3560"/>
                </a:solidFill>
                <a:latin typeface="Arial"/>
                <a:cs typeface="Arial"/>
              </a:rPr>
              <a:t>re_retrieve()</a:t>
            </a:r>
          </a:p>
          <a:p>
            <a:pPr algn="ctr">
              <a:spcBef>
                <a:spcPts val="0"/>
              </a:spcBef>
              <a:buNone/>
            </a:pPr>
            <a:r>
              <a:rPr lang="en-IN" sz="1000" b="0" i="0" dirty="0">
                <a:solidFill>
                  <a:srgbClr val="1F3560"/>
                </a:solidFill>
                <a:latin typeface="Arial"/>
                <a:cs typeface="Arial"/>
              </a:rPr>
              <a:t/>
            </a:r>
          </a:p>
        </p:txBody>
      </p:sp>
      <p:cxnSp>
        <p:nvCxnSpPr>
          <p:cNvPr id="113" name="Connector 113"/>
          <p:cNvCxnSpPr/>
          <p:nvPr/>
        </p:nvCxnSpPr>
        <p:spPr>
          <a:xfrm>
            <a:off x="10058400" y="2971800"/>
            <a:ext cx="0" cy="434340"/>
          </a:xfrm>
          <a:prstGeom prst="line">
            <a:avLst/>
          </a:prstGeom>
          <a:ln w="15875">
            <a:solidFill>
              <a:srgbClr val="B03030"/>
            </a:solidFill>
          </a:ln>
        </p:spPr>
      </p:cxnSp>
      <p:cxnSp>
        <p:nvCxnSpPr>
          <p:cNvPr id="114" name="Connector 114"/>
          <p:cNvCxnSpPr/>
          <p:nvPr/>
        </p:nvCxnSpPr>
        <p:spPr>
          <a:xfrm flipH="1">
            <a:off x="8138160" y="3406140"/>
            <a:ext cx="1920240" cy="0"/>
          </a:xfrm>
          <a:prstGeom prst="line">
            <a:avLst/>
          </a:prstGeom>
          <a:ln w="15875">
            <a:solidFill>
              <a:srgbClr val="B03030"/>
            </a:solidFill>
            <a:tailEnd type="triangle" w="med" len="med"/>
          </a:ln>
        </p:spPr>
      </p:cxnSp>
      <p:sp>
        <p:nvSpPr>
          <p:cNvPr id="115" name="TextBox 115"/>
          <p:cNvSpPr txBox="1"/>
          <p:nvPr/>
        </p:nvSpPr>
        <p:spPr>
          <a:xfrm>
            <a:off x="8183880" y="30723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IN" sz="1000" b="0" i="1" dirty="0">
                <a:solidFill>
                  <a:srgbClr val="B03030"/>
                </a:solidFill>
                <a:latin typeface="Arial"/>
                <a:cs typeface="Arial"/>
              </a:rPr>
              <a:t>fail: narrower query (max 2×)</a:t>
            </a:r>
          </a:p>
        </p:txBody>
      </p:sp>
      <p:cxnSp>
        <p:nvCxnSpPr>
          <p:cNvPr id="116" name="Connector 116"/>
          <p:cNvCxnSpPr/>
          <p:nvPr/>
        </p:nvCxnSpPr>
        <p:spPr>
          <a:xfrm flipH="1">
            <a:off x="6126480" y="3406140"/>
            <a:ext cx="274320" cy="0"/>
          </a:xfrm>
          <a:prstGeom prst="line">
            <a:avLst/>
          </a:prstGeom>
          <a:ln w="15875">
            <a:solidFill>
              <a:srgbClr val="B03030"/>
            </a:solidFill>
            <a:prstDash val="dash"/>
          </a:ln>
        </p:spPr>
      </p:cxnSp>
      <p:cxnSp>
        <p:nvCxnSpPr>
          <p:cNvPr id="117" name="Connector 117"/>
          <p:cNvCxnSpPr/>
          <p:nvPr/>
        </p:nvCxnSpPr>
        <p:spPr>
          <a:xfrm flipV="1">
            <a:off x="6126480" y="2971800"/>
            <a:ext cx="0" cy="434340"/>
          </a:xfrm>
          <a:prstGeom prst="line">
            <a:avLst/>
          </a:prstGeom>
          <a:ln w="15875">
            <a:solidFill>
              <a:srgbClr val="B03030"/>
            </a:solidFill>
            <a:prstDash val="dash"/>
            <a:tailEnd type="triangle" w="med" len="med"/>
          </a:ln>
        </p:spPr>
      </p:cxnSp>
      <p:cxnSp>
        <p:nvCxnSpPr>
          <p:cNvPr id="118" name="Connector 118"/>
          <p:cNvCxnSpPr/>
          <p:nvPr/>
        </p:nvCxnSpPr>
        <p:spPr>
          <a:xfrm>
            <a:off x="10972800" y="2971800"/>
            <a:ext cx="0" cy="1371600"/>
          </a:xfrm>
          <a:prstGeom prst="line">
            <a:avLst/>
          </a:prstGeom>
          <a:ln w="15875">
            <a:solidFill>
              <a:srgbClr val="2F7D32"/>
            </a:solidFill>
            <a:tailEnd type="triangle" w="med" len="med"/>
          </a:ln>
        </p:spPr>
      </p:cxnSp>
      <p:sp>
        <p:nvSpPr>
          <p:cNvPr id="119" name="TextBox 119"/>
          <p:cNvSpPr txBox="1"/>
          <p:nvPr/>
        </p:nvSpPr>
        <p:spPr>
          <a:xfrm>
            <a:off x="11018520" y="310896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IN" sz="1000" b="0" i="1" dirty="0">
                <a:solidFill>
                  <a:srgbClr val="2F7D32"/>
                </a:solidFill>
                <a:latin typeface="Arial"/>
                <a:cs typeface="Arial"/>
              </a:rPr>
              <a:t>pass</a:t>
            </a:r>
          </a:p>
        </p:txBody>
      </p:sp>
      <p:sp>
        <p:nvSpPr>
          <p:cNvPr id="120" name="Group 120"/>
          <p:cNvSpPr/>
          <p:nvPr/>
        </p:nvSpPr>
        <p:spPr>
          <a:xfrm>
            <a:off x="7360920" y="3931920"/>
            <a:ext cx="4160520" cy="1463040"/>
          </a:xfrm>
          <a:prstGeom prst="roundRect">
            <a:avLst>
              <a:gd name="adj" fmla="val 6000"/>
            </a:avLst>
          </a:prstGeom>
          <a:solidFill>
            <a:srgbClr val="FFF4DC"/>
          </a:solidFill>
          <a:ln w="12700">
            <a:solidFill>
              <a:srgbClr val="E9C46A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endParaRPr lang="en-IN"/>
          </a:p>
        </p:txBody>
      </p:sp>
      <p:sp>
        <p:nvSpPr>
          <p:cNvPr id="121" name="TextBox 121"/>
          <p:cNvSpPr txBox="1"/>
          <p:nvPr/>
        </p:nvSpPr>
        <p:spPr>
          <a:xfrm>
            <a:off x="7498080" y="396849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IN" sz="1100" b="1" i="0" dirty="0">
                <a:solidFill>
                  <a:srgbClr val="C8761A"/>
                </a:solidFill>
                <a:latin typeface="Arial"/>
                <a:cs typeface="Arial"/>
              </a:rPr>
              <a:t>HUMAN CHECKPOINT &amp; REHEARSAL (Streamlit)</a:t>
            </a:r>
          </a:p>
        </p:txBody>
      </p:sp>
      <p:sp>
        <p:nvSpPr>
          <p:cNvPr id="122" name="Group 122"/>
          <p:cNvSpPr/>
          <p:nvPr/>
        </p:nvSpPr>
        <p:spPr>
          <a:xfrm>
            <a:off x="2971800" y="3931920"/>
            <a:ext cx="4114800" cy="1463040"/>
          </a:xfrm>
          <a:prstGeom prst="roundRect">
            <a:avLst>
              <a:gd name="adj" fmla="val 6000"/>
            </a:avLst>
          </a:prstGeom>
          <a:solidFill>
            <a:srgbClr val="EAF4E4"/>
          </a:solidFill>
          <a:ln w="12700">
            <a:solidFill>
              <a:srgbClr val="A8D08D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endParaRPr lang="en-IN"/>
          </a:p>
        </p:txBody>
      </p:sp>
      <p:sp>
        <p:nvSpPr>
          <p:cNvPr id="123" name="TextBox 123"/>
          <p:cNvSpPr txBox="1"/>
          <p:nvPr/>
        </p:nvSpPr>
        <p:spPr>
          <a:xfrm>
            <a:off x="3108960" y="396849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IN" sz="1100" b="1" i="0" dirty="0">
                <a:solidFill>
                  <a:srgbClr val="4C7A2E"/>
                </a:solidFill>
                <a:latin typeface="Arial"/>
                <a:cs typeface="Arial"/>
              </a:rPr>
              <a:t>SCORING &amp; MEMORY (LangGraph)</a:t>
            </a:r>
          </a:p>
        </p:txBody>
      </p:sp>
      <p:sp>
        <p:nvSpPr>
          <p:cNvPr id="124" name="Box 124"/>
          <p:cNvSpPr/>
          <p:nvPr/>
        </p:nvSpPr>
        <p:spPr>
          <a:xfrm>
            <a:off x="9738360" y="4343400"/>
            <a:ext cx="1645920" cy="777240"/>
          </a:xfrm>
          <a:prstGeom prst="roundRect">
            <a:avLst>
              <a:gd name="adj" fmla="val 14000"/>
            </a:avLst>
          </a:prstGeom>
          <a:solidFill>
            <a:srgbClr val="FBD98B"/>
          </a:solidFill>
          <a:ln w="12700">
            <a:solidFill>
              <a:srgbClr val="D9992B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IN" sz="1200" b="1" i="0" dirty="0">
                <a:solidFill>
                  <a:srgbClr val="5A3A05"/>
                </a:solidFill>
                <a:latin typeface="Arial"/>
                <a:cs typeface="Arial"/>
              </a:rPr>
              <a:t>Human-in-the-loop</a:t>
            </a:r>
          </a:p>
          <a:p>
            <a:pPr algn="ctr">
              <a:spcBef>
                <a:spcPts val="0"/>
              </a:spcBef>
              <a:buNone/>
            </a:pPr>
            <a:r>
              <a:rPr lang="en-IN" sz="1000" b="0" i="0" dirty="0">
                <a:solidFill>
                  <a:srgbClr val="5A3A05"/>
                </a:solidFill>
                <a:latin typeface="Arial"/>
                <a:cs typeface="Arial"/>
              </a:rPr>
              <a:t>editable strategy form</a:t>
            </a:r>
          </a:p>
        </p:txBody>
      </p:sp>
      <p:sp>
        <p:nvSpPr>
          <p:cNvPr id="125" name="Box 125"/>
          <p:cNvSpPr/>
          <p:nvPr/>
        </p:nvSpPr>
        <p:spPr>
          <a:xfrm>
            <a:off x="7543800" y="4343400"/>
            <a:ext cx="1645920" cy="777240"/>
          </a:xfrm>
          <a:prstGeom prst="roundRect">
            <a:avLst>
              <a:gd name="adj" fmla="val 14000"/>
            </a:avLst>
          </a:prstGeom>
          <a:solidFill>
            <a:srgbClr val="FBD98B"/>
          </a:solidFill>
          <a:ln w="12700">
            <a:solidFill>
              <a:srgbClr val="D9992B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IN" sz="1200" b="1" i="0" dirty="0">
                <a:solidFill>
                  <a:srgbClr val="5A3A05"/>
                </a:solidFill>
                <a:latin typeface="Arial"/>
                <a:cs typeface="Arial"/>
              </a:rPr>
              <a:t>Vendor rehearsal</a:t>
            </a:r>
          </a:p>
          <a:p>
            <a:pPr algn="ctr">
              <a:spcBef>
                <a:spcPts val="0"/>
              </a:spcBef>
              <a:buNone/>
            </a:pPr>
            <a:r>
              <a:rPr lang="en-IN" sz="1000" b="0" i="0" dirty="0">
                <a:solidFill>
                  <a:srgbClr val="5A3A05"/>
                </a:solidFill>
                <a:latin typeface="Arial"/>
                <a:cs typeface="Arial"/>
              </a:rPr>
              <a:t>adversarial chat</a:t>
            </a:r>
          </a:p>
        </p:txBody>
      </p:sp>
      <p:sp>
        <p:nvSpPr>
          <p:cNvPr id="126" name="Box 126"/>
          <p:cNvSpPr/>
          <p:nvPr/>
        </p:nvSpPr>
        <p:spPr>
          <a:xfrm>
            <a:off x="5349240" y="4343400"/>
            <a:ext cx="1645920" cy="777240"/>
          </a:xfrm>
          <a:prstGeom prst="roundRect">
            <a:avLst>
              <a:gd name="adj" fmla="val 14000"/>
            </a:avLst>
          </a:prstGeom>
          <a:solidFill>
            <a:srgbClr val="C4E3B3"/>
          </a:solidFill>
          <a:ln w="12700">
            <a:solidFill>
              <a:srgbClr val="5B9A4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IN" sz="1200" b="1" i="0" dirty="0">
                <a:solidFill>
                  <a:srgbClr val="1F4A1A"/>
                </a:solidFill>
                <a:latin typeface="Arial"/>
                <a:cs typeface="Arial"/>
              </a:rPr>
              <a:t>strategist_score()</a:t>
            </a:r>
          </a:p>
          <a:p>
            <a:pPr algn="ctr">
              <a:spcBef>
                <a:spcPts val="0"/>
              </a:spcBef>
              <a:buNone/>
            </a:pPr>
            <a:r>
              <a:rPr lang="en-IN" sz="1000" b="0" i="0" dirty="0">
                <a:solidFill>
                  <a:srgbClr val="1F4A1A"/>
                </a:solidFill>
                <a:latin typeface="Arial"/>
                <a:cs typeface="Arial"/>
              </a:rPr>
              <a:t>5-dimension scorecard</a:t>
            </a:r>
          </a:p>
        </p:txBody>
      </p:sp>
      <p:sp>
        <p:nvSpPr>
          <p:cNvPr id="127" name="Box 127"/>
          <p:cNvSpPr/>
          <p:nvPr/>
        </p:nvSpPr>
        <p:spPr>
          <a:xfrm>
            <a:off x="3154680" y="4343400"/>
            <a:ext cx="1645920" cy="777240"/>
          </a:xfrm>
          <a:prstGeom prst="roundRect">
            <a:avLst>
              <a:gd name="adj" fmla="val 14000"/>
            </a:avLst>
          </a:prstGeom>
          <a:solidFill>
            <a:srgbClr val="C4E3B3"/>
          </a:solidFill>
          <a:ln w="12700">
            <a:solidFill>
              <a:srgbClr val="5B9A45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IN" sz="1200" b="1" i="0" dirty="0">
                <a:solidFill>
                  <a:srgbClr val="1F4A1A"/>
                </a:solidFill>
                <a:latin typeface="Arial"/>
                <a:cs typeface="Arial"/>
              </a:rPr>
              <a:t>save_memory()</a:t>
            </a:r>
          </a:p>
          <a:p>
            <a:pPr algn="ctr">
              <a:spcBef>
                <a:spcPts val="0"/>
              </a:spcBef>
              <a:buNone/>
            </a:pPr>
            <a:r>
              <a:rPr lang="en-IN" sz="1000" b="0" i="0" dirty="0">
                <a:solidFill>
                  <a:srgbClr val="1F4A1A"/>
                </a:solidFill>
                <a:latin typeface="Arial"/>
                <a:cs typeface="Arial"/>
              </a:rPr>
              <a:t>SQLite record</a:t>
            </a:r>
          </a:p>
        </p:txBody>
      </p:sp>
      <p:sp>
        <p:nvSpPr>
          <p:cNvPr id="128" name="Box 128"/>
          <p:cNvSpPr/>
          <p:nvPr/>
        </p:nvSpPr>
        <p:spPr>
          <a:xfrm>
            <a:off x="960120" y="4343400"/>
            <a:ext cx="1645920" cy="777240"/>
          </a:xfrm>
          <a:prstGeom prst="roundRect">
            <a:avLst>
              <a:gd name="adj" fmla="val 14000"/>
            </a:avLst>
          </a:prstGeom>
          <a:solidFill>
            <a:srgbClr val="D9D9D9"/>
          </a:solidFill>
          <a:ln w="12700">
            <a:solidFill>
              <a:srgbClr val="8C8C8C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IN" sz="1200" b="1" i="0" dirty="0">
                <a:solidFill>
                  <a:srgbClr val="2B2B2B"/>
                </a:solidFill>
                <a:latin typeface="Arial"/>
                <a:cs typeface="Arial"/>
              </a:rPr>
              <a:t>Scorecard + PDF</a:t>
            </a:r>
          </a:p>
          <a:p>
            <a:pPr algn="ctr">
              <a:spcBef>
                <a:spcPts val="0"/>
              </a:spcBef>
              <a:buNone/>
            </a:pPr>
            <a:r>
              <a:rPr lang="en-IN" sz="1000" b="0" i="0" dirty="0">
                <a:solidFill>
                  <a:srgbClr val="2B2B2B"/>
                </a:solidFill>
                <a:latin typeface="Arial"/>
                <a:cs typeface="Arial"/>
              </a:rPr>
              <a:t>+ history dashboard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822960" y="3968496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IN" sz="1300" b="1" i="0" dirty="0">
                <a:solidFill>
                  <a:srgbClr val="000000"/>
                </a:solidFill>
                <a:latin typeface="Arial"/>
                <a:cs typeface="Arial"/>
              </a:rPr>
              <a:t>OUTPUT</a:t>
            </a:r>
          </a:p>
        </p:txBody>
      </p:sp>
      <p:cxnSp>
        <p:nvCxnSpPr>
          <p:cNvPr id="130" name="Connector 130"/>
          <p:cNvCxnSpPr/>
          <p:nvPr/>
        </p:nvCxnSpPr>
        <p:spPr>
          <a:xfrm flipH="1">
            <a:off x="9189720" y="4732020"/>
            <a:ext cx="54864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</p:cxnSp>
      <p:cxnSp>
        <p:nvCxnSpPr>
          <p:cNvPr id="131" name="Connector 131"/>
          <p:cNvCxnSpPr/>
          <p:nvPr/>
        </p:nvCxnSpPr>
        <p:spPr>
          <a:xfrm flipH="1">
            <a:off x="6995160" y="4732020"/>
            <a:ext cx="54864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</p:cxnSp>
      <p:cxnSp>
        <p:nvCxnSpPr>
          <p:cNvPr id="132" name="Connector 132"/>
          <p:cNvCxnSpPr/>
          <p:nvPr/>
        </p:nvCxnSpPr>
        <p:spPr>
          <a:xfrm flipH="1">
            <a:off x="4800600" y="4732020"/>
            <a:ext cx="54864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</p:cxnSp>
      <p:cxnSp>
        <p:nvCxnSpPr>
          <p:cNvPr id="133" name="Connector 133"/>
          <p:cNvCxnSpPr/>
          <p:nvPr/>
        </p:nvCxnSpPr>
        <p:spPr>
          <a:xfrm flipH="1">
            <a:off x="2606040" y="4732020"/>
            <a:ext cx="54864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</p:cxnSp>
      <p:sp>
        <p:nvSpPr>
          <p:cNvPr id="134" name="Note 134"/>
          <p:cNvSpPr/>
          <p:nvPr/>
        </p:nvSpPr>
        <p:spPr>
          <a:xfrm>
            <a:off x="640080" y="548640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F4EEFA"/>
          </a:solidFill>
          <a:ln w="12700">
            <a:solidFill>
              <a:srgbClr val="C9B6E0"/>
            </a:solidFill>
          </a:ln>
        </p:spPr>
        <p:txBody>
          <a:bodyPr wrap="square" lIns="45720" tIns="27432" rIns="45720" bIns="27432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IN" sz="1100" b="1" i="0" dirty="0">
                <a:solidFill>
                  <a:srgbClr val="3A1F5C"/>
                </a:solidFill>
                <a:latin typeface="Arial"/>
                <a:cs typeface="Arial"/>
              </a:rPr>
              <a:t>User stays in control: </a:t>
            </a:r>
            <a:r>
              <a:rPr lang="en-IN" sz="1100" b="0" i="0" dirty="0">
                <a:solidFill>
                  <a:srgbClr val="3A1F5C"/>
                </a:solidFill>
                <a:latin typeface="Arial"/>
                <a:cs typeface="Arial"/>
              </a:rPr>
              <a:t>the user’s edits, not the AI draft, carry into rehearsal and the brief. The Vendor sits outside the graph and is driven turn by turn from the UI.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RAG IMPLEMENTATION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E10362E-DE98-0F93-C312-F678756311F3}"/>
              </a:ext>
            </a:extLst>
          </p:cNvPr>
          <p:cNvSpPr/>
          <p:nvPr/>
        </p:nvSpPr>
        <p:spPr>
          <a:xfrm>
            <a:off x="11097039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Rounded Rectangle 7"/>
          <p:cNvSpPr/>
          <p:nvPr/>
        </p:nvSpPr>
        <p:spPr>
          <a:xfrm>
            <a:off x="813816" y="1828800"/>
            <a:ext cx="5943600" cy="64008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 wrap="square" lIns="777240" rIns="777240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Primary search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Item + category + deal-type query</a:t>
            </a:r>
          </a:p>
        </p:txBody>
      </p:sp>
      <p:sp>
        <p:nvSpPr>
          <p:cNvPr id="9" name="Oval 8"/>
          <p:cNvSpPr/>
          <p:nvPr/>
        </p:nvSpPr>
        <p:spPr>
          <a:xfrm>
            <a:off x="996696" y="1956816"/>
            <a:ext cx="384048" cy="38404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" y="2560320"/>
            <a:ext cx="5943600" cy="64008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 wrap="square" lIns="777240" rIns="777240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Loyalty search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Runs only when the user is a repeat customer</a:t>
            </a:r>
          </a:p>
        </p:txBody>
      </p:sp>
      <p:sp>
        <p:nvSpPr>
          <p:cNvPr id="11" name="Oval 10"/>
          <p:cNvSpPr/>
          <p:nvPr/>
        </p:nvSpPr>
        <p:spPr>
          <a:xfrm>
            <a:off x="996696" y="2688336"/>
            <a:ext cx="384048" cy="38404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" y="3291840"/>
            <a:ext cx="5943600" cy="64008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 wrap="square" lIns="777240" rIns="777240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Re-query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Narrower, rephrased search if self-review failed (max 2×)</a:t>
            </a:r>
          </a:p>
        </p:txBody>
      </p:sp>
      <p:sp>
        <p:nvSpPr>
          <p:cNvPr id="13" name="Oval 12"/>
          <p:cNvSpPr/>
          <p:nvPr/>
        </p:nvSpPr>
        <p:spPr>
          <a:xfrm>
            <a:off x="996696" y="3419856"/>
            <a:ext cx="384048" cy="38404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" y="4023360"/>
            <a:ext cx="5943600" cy="64008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 wrap="square" lIns="777240" rIns="777240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Payment-terms search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Always runs, regardless of the deal</a:t>
            </a:r>
          </a:p>
        </p:txBody>
      </p:sp>
      <p:sp>
        <p:nvSpPr>
          <p:cNvPr id="15" name="Oval 14"/>
          <p:cNvSpPr/>
          <p:nvPr/>
        </p:nvSpPr>
        <p:spPr>
          <a:xfrm>
            <a:off x="996696" y="4151376"/>
            <a:ext cx="384048" cy="38404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" y="4754880"/>
            <a:ext cx="5943600" cy="64008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 wrap="square" lIns="777240" rIns="777240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Web-search fallback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Times New Roman"/>
              </a:rPr>
              <a:t>Tavily; only if best KB similarity &lt; 0.60</a:t>
            </a:r>
          </a:p>
        </p:txBody>
      </p:sp>
      <p:sp>
        <p:nvSpPr>
          <p:cNvPr id="17" name="Oval 16"/>
          <p:cNvSpPr/>
          <p:nvPr/>
        </p:nvSpPr>
        <p:spPr>
          <a:xfrm>
            <a:off x="996696" y="4882896"/>
            <a:ext cx="384048" cy="38404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55321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95959"/>
                </a:solidFill>
                <a:latin typeface="Times New Roman"/>
              </a:rPr>
              <a:t>Passages are de-duplicated and capped at 8 per negotiation.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10512"/>
            <a:ext cx="437997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Three retrieval modes, one system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040880" y="2194560"/>
          <a:ext cx="4379976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2286000"/>
                <a:gridCol w="90525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Mode</a:t>
                      </a:r>
                    </a:p>
                  </a:txBody>
                  <a:tcPr marL="91440" marR="91440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Retrieval</a:t>
                      </a:r>
                    </a:p>
                  </a:txBody>
                  <a:tcPr marL="91440" marR="91440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Searches</a:t>
                      </a:r>
                    </a:p>
                  </a:txBody>
                  <a:tcPr marL="91440" marR="91440" marT="27432" marB="27432" anchor="ctr">
                    <a:solidFill>
                      <a:srgbClr val="7030A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No-RAG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Model knowledge only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Basic RAG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One fixed search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7030A0"/>
                          </a:solidFill>
                          <a:latin typeface="Times New Roman"/>
                        </a:rPr>
                        <a:t>Agentic RAG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Adaptive, self-review, web fallback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1F1F"/>
                          </a:solidFill>
                          <a:latin typeface="Times New Roman"/>
                        </a:rPr>
                        <a:t>2–5+</a:t>
                      </a:r>
                    </a:p>
                  </a:txBody>
                  <a:tcPr marL="91440" marR="91440" marT="27432" marB="27432" anchor="ctr">
                    <a:solidFill>
                      <a:srgbClr val="F3EAF9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040880" y="4663440"/>
            <a:ext cx="4379976" cy="13716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C0000"/>
                </a:solidFill>
                <a:latin typeface="Times New Roman"/>
              </a:rPr>
              <a:t>Self-review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A second check compares the draft with the evidence and user facts → pass/fail plus confidence. Failures trigger a narrower re-search.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E10362E-DE98-0F93-C312-F678756311F3}"/>
              </a:ext>
            </a:extLst>
          </p:cNvPr>
          <p:cNvSpPr/>
          <p:nvPr/>
        </p:nvSpPr>
        <p:spPr>
          <a:xfrm>
            <a:off x="11097039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Rounded Rectangle 7"/>
          <p:cNvSpPr/>
          <p:nvPr/>
        </p:nvSpPr>
        <p:spPr>
          <a:xfrm>
            <a:off x="813816" y="182880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956816"/>
            <a:ext cx="365760" cy="36576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456" y="1956816"/>
            <a:ext cx="1892807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Business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514600"/>
            <a:ext cx="2295144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Business name, industry, unique ID; welcome-back panel with past deals and savings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182880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21024" y="1956816"/>
            <a:ext cx="365760" cy="36576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936" y="1956816"/>
            <a:ext cx="1892807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Deal 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514600"/>
            <a:ext cx="2295144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Item, quote and terms, plus leverage: repeat customer, competing quotes, volume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82880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18504" y="1956816"/>
            <a:ext cx="365760" cy="36576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7416" y="1956816"/>
            <a:ext cx="1892807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514600"/>
            <a:ext cx="2295144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Shows searches issued, evidence found and the Analyst’s summary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82880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15984" y="1956816"/>
            <a:ext cx="365760" cy="36576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54896" y="1956816"/>
            <a:ext cx="1892807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Strategy (HITL)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2514600"/>
            <a:ext cx="2295144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Pre-filled counter-offer, leverage points and script — every field editable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" y="3977639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3544" y="4105655"/>
            <a:ext cx="365760" cy="36576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2456" y="4105655"/>
            <a:ext cx="1892807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Rehearsal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663440"/>
            <a:ext cx="2295144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Multi-turn chat against the adversarial Vendor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11296" y="3977639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21024" y="4105655"/>
            <a:ext cx="365760" cy="36576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9936" y="4105655"/>
            <a:ext cx="1892807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Scorecard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1024" y="4663440"/>
            <a:ext cx="2295144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Five-dimension score, coaching notes, improved script, PDF download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3977639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18504" y="4105655"/>
            <a:ext cx="365760" cy="36576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7416" y="4105655"/>
            <a:ext cx="1892807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History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4" y="4663440"/>
            <a:ext cx="2295144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F1F"/>
                </a:solidFill>
                <a:latin typeface="Times New Roman"/>
              </a:rPr>
              <a:t>Past deals table, summary metrics and savings-by-category chart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06256" y="3977639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7030A0"/>
          </a:solidFill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15984" y="4160520"/>
            <a:ext cx="2295144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Sidebar controls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4663440"/>
            <a:ext cx="2295144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Switch retrieval mode (No-RAG, Basic, Agentic) and model at any time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AND RESULTS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E10362E-DE98-0F93-C312-F678756311F3}"/>
              </a:ext>
            </a:extLst>
          </p:cNvPr>
          <p:cNvSpPr/>
          <p:nvPr/>
        </p:nvSpPr>
        <p:spPr>
          <a:xfrm>
            <a:off x="11097039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13816" y="1783080"/>
          <a:ext cx="6126480" cy="3840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3816" y="5669280"/>
            <a:ext cx="6126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95959"/>
                </a:solidFill>
                <a:latin typeface="Times New Roman"/>
              </a:rPr>
              <a:t>Composite = 35% accuracy + 40% reasoning quality + 25% consistency; 90 runs, gpt-4o-mini.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783080"/>
            <a:ext cx="4242816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Key findings</a:t>
            </a:r>
          </a:p>
          <a:p>
            <a:pPr algn="l" marL="201168" indent="-201168">
              <a:spcBef>
                <a:spcPts val="0"/>
              </a:spcBef>
              <a:spcAft>
                <a:spcPts val="700"/>
              </a:spcAft>
              <a:buClr>
                <a:srgbClr val="CC000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Retrieval works: both RAG modes lift accuracy from 3.00 to 4.55 / 4.72</a:t>
            </a:r>
          </a:p>
          <a:p>
            <a:pPr algn="l" marL="201168" indent="-201168">
              <a:spcBef>
                <a:spcPts val="0"/>
              </a:spcBef>
              <a:spcAft>
                <a:spcPts val="700"/>
              </a:spcAft>
              <a:buClr>
                <a:srgbClr val="CC000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Agentic RAG: best accuracy (4.717) but lowest consistency (3.40)</a:t>
            </a:r>
          </a:p>
          <a:p>
            <a:pPr algn="l" marL="201168" indent="-201168">
              <a:spcBef>
                <a:spcPts val="0"/>
              </a:spcBef>
              <a:spcAft>
                <a:spcPts val="700"/>
              </a:spcAft>
              <a:buClr>
                <a:srgbClr val="CC000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Basic RAG: best composite (4.608), won 8 of 10 deals</a:t>
            </a:r>
          </a:p>
          <a:p>
            <a:pPr algn="l" marL="201168" indent="-201168">
              <a:spcBef>
                <a:spcPts val="0"/>
              </a:spcBef>
              <a:spcAft>
                <a:spcPts val="700"/>
              </a:spcAft>
              <a:buClr>
                <a:srgbClr val="CC000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Agentic dip traced to D02 and D08: ~39% swing in counter-offer %</a:t>
            </a:r>
          </a:p>
          <a:p>
            <a:pPr algn="l" marL="201168" indent="-201168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Latency per negotiation: 4.4 s → 9.6 s → 19.1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5074920"/>
            <a:ext cx="4242816" cy="96012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C0000"/>
                </a:solidFill>
                <a:latin typeface="Times New Roman"/>
              </a:rPr>
              <a:t>Verdict: </a:t>
            </a:r>
            <a:r>
              <a:rPr sz="1500" b="0" i="0">
                <a:solidFill>
                  <a:srgbClr val="1F1F1F"/>
                </a:solidFill>
                <a:latin typeface="Times New Roman"/>
              </a:rPr>
              <a:t>Basic RAG is the better default today; Agentic RAG must tighten consistency.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ML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E10362E-DE98-0F93-C312-F678756311F3}"/>
              </a:ext>
            </a:extLst>
          </p:cNvPr>
          <p:cNvSpPr/>
          <p:nvPr/>
        </p:nvSpPr>
        <p:spPr>
          <a:xfrm>
            <a:off x="11097039" y="136525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Rounded Rectangle 7"/>
          <p:cNvSpPr/>
          <p:nvPr/>
        </p:nvSpPr>
        <p:spPr>
          <a:xfrm>
            <a:off x="813816" y="1828800"/>
            <a:ext cx="3383279" cy="4160520"/>
          </a:xfrm>
          <a:prstGeom prst="roundRect">
            <a:avLst>
              <a:gd name="adj" fmla="val 6000"/>
            </a:avLst>
          </a:prstGeom>
          <a:solidFill>
            <a:srgbClr val="F3EA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" y="1828800"/>
            <a:ext cx="3383279" cy="502920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87168"/>
            <a:ext cx="3163824" cy="3429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7030A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Complete working system: 3 agents, agentic RAG, real HITL, memory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7030A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Retrieval clearly helps: accuracy rises from 3.00 to about 4.7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7030A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Basic RAG is today’s better default; Agentic RAG needs tighter consistency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7030A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Honest scope: advice is only as reliable as the user’s facts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828800"/>
            <a:ext cx="3383279" cy="4160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25696" y="1828800"/>
            <a:ext cx="3383279" cy="50292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487168"/>
            <a:ext cx="3163824" cy="3429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40404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India-specific, rupee-based knowledge base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40404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Local embeddings cap retrieval quality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40404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Fixed 15% Vendor concession ceiling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40404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Simple business ID, no secure login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40404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Single-model evaluation; D02/D08 variance undiagnosed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828800"/>
            <a:ext cx="3383279" cy="416052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37575" y="1828800"/>
            <a:ext cx="3383279" cy="502920"/>
          </a:xfrm>
          <a:prstGeom prst="roundRect">
            <a:avLst>
              <a:gd name="adj" fmla="val 12000"/>
            </a:avLst>
          </a:prstGeom>
          <a:solidFill>
            <a:srgbClr val="CC0000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3" y="2487168"/>
            <a:ext cx="3163824" cy="3429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CC000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Real-time commodity and category price data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CC000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Multi-user login; track real-world outcomes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CC000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WhatsApp / email brief export, voice rehearsal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CC000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Hindi, Tamil and Telugu support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CC0000"/>
              </a:buClr>
              <a:buFont typeface="Arial"/>
              <a:buChar char="•"/>
            </a:pPr>
            <a:r>
              <a:rPr sz="1600" b="0" i="0">
                <a:solidFill>
                  <a:srgbClr val="1F1F1F"/>
                </a:solidFill>
                <a:latin typeface="Times New Roman"/>
              </a:rPr>
              <a:t>Multi-model evaluation; diagnose D02/D08 variance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8CC27A-14F7-85DD-1D33-35BB88464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AI &amp;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20C7D-BD2C-F059-5056-8B99F4B27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/>
            </a: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74100185-8BF5-98C3-C475-2DE8C2F8F9C0}"/>
              </a:ext>
            </a:extLst>
          </p:cNvPr>
          <p:cNvSpPr/>
          <p:nvPr/>
        </p:nvSpPr>
        <p:spPr>
          <a:xfrm>
            <a:off x="10962973" y="164217"/>
            <a:ext cx="832453" cy="1142731"/>
          </a:xfrm>
          <a:custGeom>
            <a:avLst/>
            <a:gdLst/>
            <a:ahLst/>
            <a:cxnLst/>
            <a:rect l="l" t="t" r="r" b="b"/>
            <a:pathLst>
              <a:path w="832453" h="1142731">
                <a:moveTo>
                  <a:pt x="0" y="0"/>
                </a:moveTo>
                <a:lnTo>
                  <a:pt x="832453" y="0"/>
                </a:lnTo>
                <a:lnTo>
                  <a:pt x="832453" y="1142731"/>
                </a:lnTo>
                <a:lnTo>
                  <a:pt x="0" y="1142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6"/>
          <p:cNvSpPr txBox="1"/>
          <p:nvPr/>
        </p:nvSpPr>
        <p:spPr>
          <a:xfrm>
            <a:off x="1371600" y="4297680"/>
            <a:ext cx="944575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030A0"/>
                </a:solidFill>
                <a:latin typeface="Times New Roman"/>
              </a:rPr>
              <a:t>Questions and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44575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Times New Roman"/>
              </a:rPr>
              <a:t>NegotiatorAI · Mounesh Kumaran K R · 231501104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286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Times New Roman</vt:lpstr>
      <vt:lpstr>Verdana</vt:lpstr>
      <vt:lpstr>Wingdings</vt:lpstr>
      <vt:lpstr>Profile</vt:lpstr>
      <vt:lpstr>PowerPoint Presentation</vt:lpstr>
      <vt:lpstr>INTRODUCTION</vt:lpstr>
      <vt:lpstr>PROJECT OVERVIEW</vt:lpstr>
      <vt:lpstr>EXISTING SYSTEM</vt:lpstr>
      <vt:lpstr>PROBLEM STATEMENT </vt:lpstr>
      <vt:lpstr>OBJECTIVES AND SCOPE</vt:lpstr>
      <vt:lpstr>LITERATURE SURVEY </vt:lpstr>
      <vt:lpstr>LITERATURE SURVEY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DURAI MURUGAN N</dc:creator>
  <cp:lastModifiedBy>Muruga</cp:lastModifiedBy>
  <cp:revision>8</cp:revision>
  <dcterms:created xsi:type="dcterms:W3CDTF">2023-08-03T04:32:32Z</dcterms:created>
  <dcterms:modified xsi:type="dcterms:W3CDTF">2026-07-17T14:35:17Z</dcterms:modified>
</cp:coreProperties>
</file>